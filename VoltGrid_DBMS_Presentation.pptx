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VoltGrid: Smart EV Charging &amp; Infrastructure DBMS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PostgreSQL 16 Relational Database Management System Project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11 Normalized Relational Tables across Identity, Grid Hardware, and Billing Domains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Referential Integrity: Primary Keys (UUID), Foreign Keys (CASCADE, RESTRICT, SET NULL)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Advanced Constraints: GiST Range Exclusion (no double-booking), Custom ENUMs &amp; CHECK rules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Active Database Logic: 3 PL/pgSQL Automated Triggers &amp; 3 Atomic Stored Procedures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Analytical SQL: Materialized View, Window Functions (DENSE_RANK), and Recursive CTEs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Built-in Live Database Lab: Tables &amp; Keys Explorer, SQL Runner (SELECT/INSERT/UPDATE/DELETE) &amp; Live Stream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1. Problem Statement &amp; Why Relational DBMS?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Core Data Integrity Challenges in EV Charging Networks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Concurrent Booking Conflicts: Two drivers booking the same bay for overlapping times must be blocked by ACID locks and DB constraints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Hardware Connector Matching: Vehicles (CCS2, TYPE2, CHAdeMO, NACS) can only book bays with a functional matching connector_port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Automatic Hardware State Sync: Opening a fault ticket must immediately switch the physical bay to MAINTENANCE inside the database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Financial &amp; Billing Protection: Completed charging sessions and tariff plans must be protected against accidental deletion (ON DELETE RESTRICT)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Auditability: Every reservation state transition must automatically write an immutable JSONB telemetry snapshot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2. Database Schema Overview (11 Tables)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Organized into 3 Functional Relational Domains (database/01_schema.sql)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Domain A - Identity &amp; Vehicles (4 Tables): user_account, driver_profile, technician_profile, ev_vehicle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Domain B - Physical Grid &amp; Chargers (3 Tables): charging_station, charging_bay, connector_port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Domain C - Pricing, Bookings &amp; Operations (4 Tables): tariff_plan, charging_reservation, maintenance_ticket, audit_station_telemetry_log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All tables use UUID Primary Keys (gen_random_uuid()) and strict NOT NULL / UNIQUE / CHECK constraints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Seeded with realistic Indian EV network data (Bengaluru, Mumbai, Gurugram, Hyderabad)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3. EER Modeling Patterns in voltgrid_db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Inheritance, Weak Entities, Recursive Hierarchy &amp; Associative Entities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Supertype / Subtype Inheritance (1:1 Shared PK): driver_profile &amp; technician_profile share account_id PK/FK referencing user_account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Self-Referencing Recursive Hierarchy (1:N): charging_station.parent_grid_node_id references charging_station(station_id)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Weak / Dependent Entity Chain: charging_station -&gt; charging_bay (UNIQUE station_id + bay_number) -&gt; connector_port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4-Way Associative Entity: charging_reservation connects driver_profile + ev_vehicle + charging_bay + tariff_plan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4. Foreign Key Referential Integrity &amp; ON DELETE Rules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Why Specific ON DELETE Behaviors Were Chosen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ON DELETE CASCADE (Dependent Entities): driver_profile, technician_profile, ev_vehicle, charging_bay, connector_port</a:t>
            </a:r>
          </a:p>
          <a:p>
            <a:pPr marL="457200" spcBef="12000">
              <a:spcBef>
                <a:spcPts val="1000"/>
              </a:spcBef>
            </a:pPr>
            <a:r>
              <a:rPr lang="en-US" sz="1600" b="1" dirty="0">
                <a:solidFill>
                  <a:srgbClr val="10B981"/>
                </a:solidFill>
                <a:latin typeface="Segoe UI"/>
              </a:rPr>
              <a:t/>
            </a:r>
            <a:r>
              <a:rPr lang="en-US" sz="1600" dirty="0">
                <a:solidFill>
                  <a:srgbClr val="A1A1AA"/>
                </a:solidFill>
                <a:latin typeface="Segoe UI"/>
              </a:rPr>
              <a:t>↳ Deleting a station cascades to its physical bays and ports; deleting a user cascades to their subtype profile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ON DELETE RESTRICT (Financial Ledger Protection): All 4 Foreign Keys on charging_reservation (driver, vehicle, bay, tariff)</a:t>
            </a:r>
          </a:p>
          <a:p>
            <a:pPr marL="457200" spcBef="12000">
              <a:spcBef>
                <a:spcPts val="1000"/>
              </a:spcBef>
            </a:pPr>
            <a:r>
              <a:rPr lang="en-US" sz="1600" b="1" dirty="0">
                <a:solidFill>
                  <a:srgbClr val="10B981"/>
                </a:solidFill>
                <a:latin typeface="Segoe UI"/>
              </a:rPr>
              <a:t/>
            </a:r>
            <a:r>
              <a:rPr lang="en-US" sz="1600" dirty="0">
                <a:solidFill>
                  <a:srgbClr val="A1A1AA"/>
                </a:solidFill>
                <a:latin typeface="Segoe UI"/>
              </a:rPr>
              <a:t>↳ PostgreSQL blocks deleting any tariff plan, bay, or driver that has historical billing records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ON DELETE SET NULL (History Preservation): maintenance_ticket (reported_by_driver_id, assigned_technician_id) &amp; parent_grid_node_id</a:t>
            </a:r>
          </a:p>
          <a:p>
            <a:pPr marL="457200" spcBef="12000">
              <a:spcBef>
                <a:spcPts val="1000"/>
              </a:spcBef>
            </a:pPr>
            <a:r>
              <a:rPr lang="en-US" sz="1600" b="1" dirty="0">
                <a:solidFill>
                  <a:srgbClr val="10B981"/>
                </a:solidFill>
                <a:latin typeface="Segoe UI"/>
              </a:rPr>
              <a:t/>
            </a:r>
            <a:r>
              <a:rPr lang="en-US" sz="1600" dirty="0">
                <a:solidFill>
                  <a:srgbClr val="A1A1AA"/>
                </a:solidFill>
                <a:latin typeface="Segoe UI"/>
              </a:rPr>
              <a:t>↳ Fault ticket history and child stations remain intact even if a staff account or parent node is removed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5. Domain Integrity: ENUM Types &amp; CHECK Constraints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Enforcing Valid Data Ranges at the Storage Engine Level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6 PostgreSQL ENUM Types: user_role_enum, bay_status_enum, connector_type_enum, reservation_status_enum, ticket_severity_enum, ticket_status_enum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chk_reservation_time_interval: CHECK (end_time &gt; start_time) prevents negative or zero-length bookings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chk_soc_progression: CHECK (target_soc_percent &gt;= initial_soc_percent) validates battery charge targets (0% to 100%)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chk_resolution_time: CHECK (resolved_at IS NULL OR resolved_at &gt;= reported_at) on maintenance_ticket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chk_latitude_range / chk_longitude_range &amp; positive kW / price checks across stations, ports, and tariffs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6. Concurrency Control &amp; Double-Booking Prevention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Two-Layer Protection: Pessimistic Row Locking + GiST Exclusion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Layer 1 - Pessimistic Locking (03_stored_procedures.sql): sp_book_charging_bay_atomic runs SELECT ... FROM charging_bay FOR UPDATE</a:t>
            </a:r>
          </a:p>
          <a:p>
            <a:pPr marL="457200" spcBef="12000">
              <a:spcBef>
                <a:spcPts val="1000"/>
              </a:spcBef>
            </a:pPr>
            <a:r>
              <a:rPr lang="en-US" sz="1600" b="1" dirty="0">
                <a:solidFill>
                  <a:srgbClr val="10B981"/>
                </a:solidFill>
                <a:latin typeface="Segoe UI"/>
              </a:rPr>
              <a:t/>
            </a:r>
            <a:r>
              <a:rPr lang="en-US" sz="1600" dirty="0">
                <a:solidFill>
                  <a:srgbClr val="A1A1AA"/>
                </a:solidFill>
                <a:latin typeface="Segoe UI"/>
              </a:rPr>
              <a:t>↳ Locks the target bay row with a 3-second lock_timeout so simultaneous requests queue safely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Layer 2 - GiST Range Exclusion Constraint (01_schema.sql): EXCLUDE USING gist (bay_id WITH =, tstzrange(start_time, end_time) WITH &amp;&amp;)</a:t>
            </a:r>
          </a:p>
          <a:p>
            <a:pPr marL="457200" spcBef="12000">
              <a:spcBef>
                <a:spcPts val="1000"/>
              </a:spcBef>
            </a:pPr>
            <a:r>
              <a:rPr lang="en-US" sz="1600" b="1" dirty="0">
                <a:solidFill>
                  <a:srgbClr val="10B981"/>
                </a:solidFill>
                <a:latin typeface="Segoe UI"/>
              </a:rPr>
              <a:t/>
            </a:r>
            <a:r>
              <a:rPr lang="en-US" sz="1600" dirty="0">
                <a:solidFill>
                  <a:srgbClr val="A1A1AA"/>
                </a:solidFill>
                <a:latin typeface="Segoe UI"/>
              </a:rPr>
              <a:t>↳ Enforced on CONFIRMED and ACTIVE reservations using PostgreSQL btree_gist extension</a:t>
            </a:r>
          </a:p>
          <a:p>
            <a:pPr marL="457200" spcBef="12000">
              <a:spcBef>
                <a:spcPts val="1000"/>
              </a:spcBef>
            </a:pPr>
            <a:r>
              <a:rPr lang="en-US" sz="1600" b="1" dirty="0">
                <a:solidFill>
                  <a:srgbClr val="10B981"/>
                </a:solidFill>
                <a:latin typeface="Segoe UI"/>
              </a:rPr>
              <a:t/>
            </a:r>
            <a:r>
              <a:rPr lang="en-US" sz="1600" dirty="0">
                <a:solidFill>
                  <a:srgbClr val="A1A1AA"/>
                </a:solidFill>
                <a:latin typeface="Segoe UI"/>
              </a:rPr>
              <a:t>↳ Mathematically guarantees zero overlapping time slots on the same bay even under race conditions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7. Automated Database Triggers (02_triggers.sql)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Event-Driven PL/pgSQL Triggers Executing Inside PostgreSQL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Trigger 1 - trg_sync_bay_status_ticket (AFTER INSERT OR UPDATE ON maintenance_ticket):</a:t>
            </a:r>
          </a:p>
          <a:p>
            <a:pPr marL="457200" spcBef="12000">
              <a:spcBef>
                <a:spcPts val="1000"/>
              </a:spcBef>
            </a:pPr>
            <a:r>
              <a:rPr lang="en-US" sz="1600" b="1" dirty="0">
                <a:solidFill>
                  <a:srgbClr val="10B981"/>
                </a:solidFill>
                <a:latin typeface="Segoe UI"/>
              </a:rPr>
              <a:t/>
            </a:r>
            <a:r>
              <a:rPr lang="en-US" sz="1600" dirty="0">
                <a:solidFill>
                  <a:srgbClr val="A1A1AA"/>
                </a:solidFill>
                <a:latin typeface="Segoe UI"/>
              </a:rPr>
              <a:t>↳ When ticket_status is OPEN or IN_PROGRESS: automatically sets charging_bay.bay_status = 'MAINTENANCE'</a:t>
            </a:r>
          </a:p>
          <a:p>
            <a:pPr marL="457200" spcBef="12000">
              <a:spcBef>
                <a:spcPts val="1000"/>
              </a:spcBef>
            </a:pPr>
            <a:r>
              <a:rPr lang="en-US" sz="1600" b="1" dirty="0">
                <a:solidFill>
                  <a:srgbClr val="10B981"/>
                </a:solidFill>
                <a:latin typeface="Segoe UI"/>
              </a:rPr>
              <a:t/>
            </a:r>
            <a:r>
              <a:rPr lang="en-US" sz="1600" dirty="0">
                <a:solidFill>
                  <a:srgbClr val="A1A1AA"/>
                </a:solidFill>
                <a:latin typeface="Segoe UI"/>
              </a:rPr>
              <a:t>↳ When ticket_status becomes RESOLVED: automatically restores charging_bay.bay_status = 'AVAILABLE'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Trigger 2 - trg_audit_reservation_lifecycle (AFTER INSERT OR UPDATE ON charging_reservation):</a:t>
            </a:r>
          </a:p>
          <a:p>
            <a:pPr marL="457200" spcBef="12000">
              <a:spcBef>
                <a:spcPts val="1000"/>
              </a:spcBef>
            </a:pPr>
            <a:r>
              <a:rPr lang="en-US" sz="1600" b="1" dirty="0">
                <a:solidFill>
                  <a:srgbClr val="10B981"/>
                </a:solidFill>
                <a:latin typeface="Segoe UI"/>
              </a:rPr>
              <a:t/>
            </a:r>
            <a:r>
              <a:rPr lang="en-US" sz="1600" dirty="0">
                <a:solidFill>
                  <a:srgbClr val="A1A1AA"/>
                </a:solidFill>
                <a:latin typeface="Segoe UI"/>
              </a:rPr>
              <a:t>↳ Inserts an immutable JSONB telemetry snapshot into audit_station_telemetry_log on every booking state change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Trigger 3 - trg_user_account_touch (BEFORE UPDATE ON user_account): Updates updated_at = CURRENT_TIMESTAMP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8. Transactional DML: INSERT, UPDATE &amp; Stored Procedures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How UI Actions Map Directly to SQL Statements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Book Slot (INSERT): Calls sp_book_charging_bay_atomic -&gt; validates port compatibility, calculates cost, inserts CONFIRMED reservation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Complete Charging (UPDATE ... FROM JOIN): Updates charging_reservation status to COMPLETED and bills energy_delivered_kwh * tariff rate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Cancel Slot (UPDATE): Updates charging_reservation SET reservation_status = 'CANCELLED' and releases the bay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Report / Claim / Resolve Fault (INSERT &amp; UPDATE): Modifies maintenance_ticket and fires trg_sync_bay_status_ticket automatically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9. Analytical Views, Window Functions &amp; Recursive CTE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Database-Driven Reporting &amp; Hierarchy Queries (04_analytical_queries.sql)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Materialized View (mv_station_performance_summary): Pre-computes 4-table LEFT JOIN for station bays, kWh delivered, and revenue (INR)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Window Function View (v_driver_analytics_leaderboard): Uses DENSE_RANK() OVER (ORDER BY SUM(energy_delivered_kwh) DESC)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Recursive CTE View (v_grid_hierarchy_tree): Uses WITH RECURSIVE to traverse parent_grid_node_id from Root Substations to Child Hubs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Information Schema Catalog Query: Inspects live foreign key constraints and ON DELETE rules from information_schema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10. Indexing Strategy (01_schema.sql)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Optimizing Read &amp; Write Performance in PostgreSQL 16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Composite B-Tree Indexes: idx_station_city_status(city, operational_status) &amp; idx_reservation_driver_time(driver_id, start_time DESC)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Partial B-Tree Indexes: Index only active rows (WHERE reservation_status IN ('CONFIRMED', 'ACTIVE') / WHERE ticket_status IN ('OPEN', 'IN_PROGRESS'))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GiST Index: Powers fast timestamp range overlap checks (tstzrange &amp;&amp;) on charging_reservation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GIN Index: idx_audit_telemetry_jsonb_gin on audit_station_telemetry_log(metric_snapshot) for fast JSONB key lookups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Box -->
      <p:sp>
        <p:nvSpPr>
          <p:cNvPr id="2" name="Title"/>
          <p:cNvSpPr/>
          <p:nvPr/>
        </p:nvSpPr>
        <p:spPr>
          <a:xfrm>
            <a:off x="609600" y="400000"/>
            <a:ext cx="10972800" cy="7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2800" b="1" dirty="0">
                <a:solidFill>
                  <a:srgbClr val="10B981"/>
                </a:solidFill>
                <a:latin typeface="Segoe UI"/>
              </a:rPr>
              <a:t>11. Live Demonstration Flow</a:t>
            </a:r>
          </a:p>
        </p:txBody>
      </p:sp>
      <!-- Subtitle Box -->
      <p:sp>
        <p:nvSpPr>
          <p:cNvPr id="3" name="Subtitle"/>
          <p:cNvSpPr/>
          <p:nvPr/>
        </p:nvSpPr>
        <p:spPr>
          <a:xfrm>
            <a:off x="609600" y="1100000"/>
            <a:ext cx="10972800" cy="4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b="1" dirty="0">
                <a:solidFill>
                  <a:srgbClr val="38BDF8"/>
                </a:solidFill>
                <a:latin typeface="Segoe UI"/>
              </a:rPr>
              <a:t>Step-by-Step Walkthrough Inside the VoltGrid Database Lab</a:t>
            </a:r>
          </a:p>
        </p:txBody>
      </p:sp>
      <!-- Content Card Box -->
      <p:sp>
        <p:nvSpPr>
          <p:cNvPr id="4" name="Content"/>
          <p:cNvSpPr/>
          <p:nvPr/>
        </p:nvSpPr>
        <p:spPr>
          <a:xfrm>
            <a:off x="609600" y="1650000"/>
            <a:ext cx="10972800" cy="4600000"/>
          </a:xfrm>
          <a:prstGeom prst="roundRect">
            <a:avLst>
              <a:gd name="adj" fmla="val 3000"/>
            </a:avLst>
          </a:prstGeom>
          <a:solidFill>
            <a:srgbClr val="18181B"/>
          </a:solidFill>
          <a:ln w="12700">
            <a:solidFill>
              <a:srgbClr val="27272A"/>
            </a:solidFill>
          </a:ln>
        </p:spPr>
        <p:txBody>
          <a:bodyPr wrap="square" lIns="300000" tIns="250000" rIns="300000" bIns="250000"/>
          <a:lstStyle/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Step 1 - Tables &amp; Keys Tab: Click through all 11 tables, inspect PKs, FKs, ON DELETE rules, and parent/child relationships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Step 2 - SQL Runner (Read Presets): Execute 5-table JOINs, Station Revenue GROUP BY, and Recursive CTE Grid Hierarchy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Step 3 - SQL Runner (Trial Writes): Run INSERT (New Tariff), UPDATE (Driver Loyalty), INSERT/UPDATE (Fault Ticket Trigger), and DELETE</a:t>
            </a:r>
          </a:p>
          <a:p>
            <a:pPr marL="228600" spcBef="12000">
              <a:spcBef>
                <a:spcPts val="1000"/>
              </a:spcBef>
            </a:pPr>
            <a:r>
              <a:rPr lang="en-US" sz="1800" b="1" dirty="0">
                <a:solidFill>
                  <a:srgbClr val="10B981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E4E4E7"/>
                </a:solidFill>
                <a:latin typeface="Segoe UI"/>
              </a:rPr>
              <a:t>Step 4 - Live Stream (Write Filter): Cancel or Complete a session in My Activity and watch the live UPDATE SQL execute in real time</a:t>
            </a:r>
          </a:p>
        </p:txBody>
      </p:sp>
      <!-- Footer Box -->
      <p:sp>
        <p:nvSpPr>
          <p:cNvPr id="5" name="Footer"/>
          <p:cNvSpPr/>
          <p:nvPr/>
        </p:nvSpPr>
        <p:spPr>
          <a:xfrm>
            <a:off x="609600" y="6350000"/>
            <a:ext cx="10972800" cy="35000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71717A"/>
                </a:solidFill>
                <a:latin typeface="Consolas"/>
              </a:rPr>
              <a:t>VoltGrid EV Infrastructure DBMS • PostgreSQL 16 •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oltGridTheme">
  <a:themeElements>
    <a:clrScheme name="VoltGrid">
      <a:dk1>
        <a:srgbClr val="09090B"/>
      </a:dk1>
      <a:lt1>
        <a:srgbClr val="FAFAFA"/>
      </a:lt1>
      <a:dk2>
        <a:srgbClr val="18181B"/>
      </a:dk2>
      <a:lt2>
        <a:srgbClr val="E4E4E7"/>
      </a:lt2>
      <a:accent1>
        <a:srgbClr val="10B981"/>
      </a:accent1>
      <a:accent2>
        <a:srgbClr val="38BDF8"/>
      </a:accent2>
      <a:accent3>
        <a:srgbClr val="F59E0B"/>
      </a:accent3>
      <a:accent4>
        <a:srgbClr val="F43F5E"/>
      </a:accent4>
      <a:accent5>
        <a:srgbClr val="A855F7"/>
      </a:accent5>
      <a:accent6>
        <a:srgbClr val="14B8A6"/>
      </a:accent6>
      <a:hlink>
        <a:srgbClr val="38BDF8"/>
      </a:hlink>
      <a:folHlink>
        <a:srgbClr val="818CF8"/>
      </a:folHlink>
    </a:clrScheme>
    <a:fontScheme name="VoltGridFont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VoltGridF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